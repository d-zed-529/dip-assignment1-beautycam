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notesSlides/notesSlide1.xml" Type="http://schemas.openxmlformats.org/officeDocument/2006/relationships/notesSlide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39" Target="notesSlides/notesSlide14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5.xml" Type="http://schemas.openxmlformats.org/officeDocument/2006/relationships/notesSlide"/><Relationship Id="rId41" Target="notesSlides/notesSlide16.xml" Type="http://schemas.openxmlformats.org/officeDocument/2006/relationships/notesSlide"/><Relationship Id="rId42" Target="notesSlides/notesSlide17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各位老师好，我们大作业的题目是 BeautyCam 智能美颜相机，这是一个基于 OpenCV 和 PyTorch 的实时图像处理系统。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它在普通摄像头的基础上，实现了人脸美化、人像分割、背景虚化、低光增强、自动 HDR 和换脸等一系列手机相机上常见的功能。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本次汇报我会重点讲解每个功能背后的算法原理，工程实现部分只做简要说明。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这是本次汇报的目录，共分为六个部分。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第一部分介绍项目背景和系统整体架构；第二到第五部分是核心，我会逐一讲解美颜、分割虚化、低光与 HDR、换脸背后的算法原理；最后给出实验评测和总结。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如今的手机相机已经进入计算摄影时代，美颜、人像模式、夜景、HDR 这些功能成为标配，它们本质上都是多种图像处理算法组合的结果。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但我们课程里的实验往往是孤立的单点算法，缺少把它们组合成完整产品的实践。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所以我们的目标是，以经典图像处理为主、轻量深度学习为辅，做一套能实时运行的美颜相机，打通从采集到显示的完整链路。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这是系统的整体架构。摄像头的每一帧先进入 AI 推理引擎，并行完成人脸、手势、分割和深度四类感知。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这些感知结果——关键点、alpha 遮罩、深度图——作为上下文传给效果处理链。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效果链里每个效果都可以独立开关，处理完的画面一路实时预览，同时支持手势或笑脸触发快门、拍照保存。整条流水线在 GPU 上并行调度，保证实时性。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磨皮要解决的矛盾是：既要去掉皮肤上的痘痘、斑点和噪点，又不能把眼睛、眉毛、嘴唇这些五官边缘糊掉。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双边滤波的巧妙之处在于它有两个高斯核：空间核管距离，值域核管灰度差异。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在皮肤这种平坦区域，邻域灰度都差不多，值域核约等于1，滤波器就退化成普通高斯，把瑕疵磨掉；而在五官边缘，跨过去灰度变化大，值域核趋近于0，平滑被自动关掉，边缘就保住了。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工程上我们在半分辨率做滤波再放大，显著降低计算量。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美白的关键不是简单把画面调亮，而是先精确找到皮肤，再只在皮肤上提亮，否则背景、头发、五官都会跟着发白。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我们用两步构造掩膜：先在 YCrCb 色彩空间利用肤色的 Cr、Cb 聚集范围做粗分割，再和人脸关键点生成的椭圆取交集，排除手臂等其他暖色物体，并对边缘羽化。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提亮选在 LAB 空间，因为亮度 L 和色度 a、b 是解耦的，只动 L 不会改变色相，避免了 RGB 直接加白那种发灰、偏色的问题。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瘦脸和大眼都属于几何变形，关键是让像素平滑移动而不能产生褶皱或断裂。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瘦脸用移动最小二乘：在下颌设控制点向内推，对每个像素求加权最小二乘的局部仿射，离控制点越近权重越大，脸颊自然内收、纹理连续。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大眼以瞳孔为中心画圆，圆内做径向放大的逆映射，强度沿半径衰减、边界为1，圆外完全不变。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人像分割要把人物和背景精确分开。普通的二值分割有两个问题：头发丝这种细碎边缘会呈锯齿，而且逐帧独立预测时边缘会闪烁。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我们采用 Robust Video Matting，它是专门为视频设计的抠图网络，内部维护四组循环状态在帧间传递，相当于记住了历史信息，所以输出的 alpha 在时间上连贯、不闪烁。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之后再用原图做引导滤波精修边缘，让发丝更干净。有了 alpha，就可以通过 alpha 混合实现背景虚化、纯色背景和背景替换。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有了精确的 alpha，分割可以支撑三类应用。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第一是背景虚化，人物保持清晰、背景模糊，模拟大光圈浅景深；第二是纯色背景，可以快速做证件照；第三是把背景替换成任意图，alpha 混合能自然处理头发丝这种半透明边缘。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下方这张图从左到右依次展示了原图、alpha、虚化和换背景的结果。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普通的人像虚化是把背景整体模糊，比较假。真实镜头的虚化是随距离连续变化的，焦点清晰、越远越虚。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要做到这点，先要知道每个像素的远近。我们用 Depth Anything V2 从单张图预测相对深度，它用大规模无标注数据训练，泛化很强，不需要深度传感器。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然后把深度映射成模糊核 sigma，越远 sigma 越大。工程上用分层高斯模糊再加权合成来近似连续变化的核，同时把人物区域强制设为清晰。这样就得到近实远虚、很有层次感的景深效果。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暗光环境下，画面不仅暗，噪声还很大。低光增强的理论基础是 Retinex：观测图像等于物体的反射分量乘以光照分量，反射才是物体的本质。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所以增强的思路是估计出光照分量并校正，再还原反射，同时要压住暗处被放大的噪声。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我们对比了三种实现：最简单的 gamma 加直方图均衡只有 14.4 dB；SCI 用一个极轻量网络自校准地估计光照，速度快、达到 22.1 dB；Retinexformer 先估光照再用 Transformer 去噪，效果最好、25.16 dB。下方对比图可以直观看出差距。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真实场景的明暗反差往往很大，逆光时要么天空过曝死白、要么人脸欠曝死黑，单张照片无法同时保住两端细节，这就是 HDR 要解决的问题。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标准 HDR 要拍多张不同曝光，但实时模式只有一帧，所以我们用 gamma 曲线合成出 −1、0、+1 三档伪曝光，再用 ECC 算法对齐，防止手抖产生鬼影。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核心是 Mertens 融合：对每帧计算对比度、饱和度和良好曝光三个权重，在拉普拉斯金字塔上做多尺度融合，最后经色调映射压缩到显示器范围，亮部暗部的细节就都保留下来了。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换脸的本质是把一张非刚性的人脸精确拼到另一张脸上，我们用经典的四步流水线。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先对源脸的 478 个关键点做 Delaunay 三角剖分，得到约 890 个饱满的小三角形，把复杂的脸拆成可以用简单仿射处理的平面片；然后逐三角形求仿射矩阵变形到目标，对齐五官。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接着用 Reinhard 色彩迁移在 LAB 空间统一两张脸的肤色，最后用泊松融合在梯度域求解，消除拼接边界。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这是演示级实现，当两张脸都有胡子时嘴部仍会有重叠，我们也在页面上标注了这个局限。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这里补充两类辅助功能。画质方面：用自适应 gamma 做分区亮度调整，用 CLAHE 在限制对比度的前提下增强局部细节，再用灰世界假设做白平衡纠正色偏。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交互方面：BlazePalm 检测手掌并给出 21 个关键点，据此识别手势，同时用 blendshapes 判断笑脸；为了防止误触，我们用状态机做防抖和冷却，连续稳定识别才触发快门。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实验部分，我们在合成暗图上做了定量评测。可以看到，启发式方法只有 14.4 dB，SCI 达到 22.1，Retinexformer 达到 25.16，深度学习方法提升了大约 8 到 11 dB。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实时性方面，我们通过降分辨率、检测节流、GPU 并行、跨帧状态复用和轻量模型优先等手段，保证画面能够实时预览。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总体结论是，在实时的前提下，深度学习方法明显优于传统启发式，分割、虚化和 HDR 的视觉效果前面几页已经展示。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总结一下，我们完成了一套功能完整的实时美颜相机，涵盖美颜、分割、深度虚化、低光增强、HDR 和换脸六大算法模块，并打通了完整的工程链路。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当然也有不足：换脸在有胡须、遮挡或大侧脸时还有瑕疵，单目深度是相对尺度，重模型在低端设备上仍有压力。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未来可以从稠密对齐、3D 先验、模型量化蒸馏，以及视频时序稳定、风格化滤镜等方向继续改进。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我的汇报到此结束，感谢各位老师的聆听，恳请老师们批评指正。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png" Type="http://schemas.openxmlformats.org/officeDocument/2006/relationships/image"/><Relationship Id="rId3" Target="../media/image10.jpeg" Type="http://schemas.openxmlformats.org/officeDocument/2006/relationships/image"/><Relationship Id="rId4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.jpe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2.jpe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jpeg" Type="http://schemas.openxmlformats.org/officeDocument/2006/relationships/image"/><Relationship Id="rId4" Target="../media/image15.jpeg" Type="http://schemas.openxmlformats.org/officeDocument/2006/relationships/image"/><Relationship Id="rId5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6F4E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1168400"/>
            <a:ext cx="584200" cy="50800"/>
          </a:xfrm>
          <a:prstGeom prst="roundRect">
            <a:avLst>
              <a:gd name="adj" fmla="val 0"/>
            </a:avLst>
          </a:prstGeom>
          <a:solidFill>
            <a:srgbClr val="B06A3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346200"/>
            <a:ext cx="889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数字图像处理 · 课程大作业结题汇报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90600" y="2133600"/>
            <a:ext cx="104140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46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BeautyCam 智能美颜相机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276600"/>
            <a:ext cx="1041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900">
                <a:solidFill>
                  <a:srgbClr val="63686E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OpenCV 与 PyTorch 的实时人脸美化与动作识别系统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810000"/>
            <a:ext cx="1041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C9094"/>
                </a:solidFill>
                <a:latin typeface="Noto Sans SC"/>
                <a:ea typeface="Noto Sans SC"/>
                <a:cs typeface="Noto Sans SC"/>
                <a:sym typeface="Noto Sans SC"/>
              </a:rPr>
              <a:t>人脸美化 · 人像分割 · 深度虚化 · 低光增强 · 自动 HDR · 换脸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297" flipH="false" flipV="false">
            <a:off x="1016004" y="456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2CDC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4851400"/>
            <a:ext cx="4826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5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汇报人：XXX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5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学　号：XXXXXXXX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4851400"/>
            <a:ext cx="4826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5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指导教师：XXX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5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4E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60400"/>
            <a:ext cx="3810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032000" y="787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422400"/>
            <a:ext cx="508000" cy="38100"/>
          </a:xfrm>
          <a:prstGeom prst="roundRect">
            <a:avLst>
              <a:gd name="adj" fmla="val 0"/>
            </a:avLst>
          </a:prstGeom>
          <a:solidFill>
            <a:srgbClr val="B06A3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05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854200" y="1905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项目背景与系统总览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854200" y="23368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C9094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需求分析、技术栈与整体架构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291" flipH="false" flipV="false">
            <a:off x="1016009" y="28130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AD5C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1496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854200" y="31496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实时美颜算法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854200" y="35814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C9094"/>
                </a:solidFill>
                <a:latin typeface="Noto Sans SC"/>
                <a:ea typeface="Noto Sans SC"/>
                <a:cs typeface="Noto Sans SC"/>
                <a:sym typeface="Noto Sans SC"/>
              </a:rPr>
              <a:t>双边滤波、LAB 美白、瘦脸与大眼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9291" flipH="false" flipV="false">
            <a:off x="1016009" y="405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AD5C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1016000" y="43942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854200" y="43942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人像分割与深度虚化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854200" y="48260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C9094"/>
                </a:solidFill>
                <a:latin typeface="Noto Sans SC"/>
                <a:ea typeface="Noto Sans SC"/>
                <a:cs typeface="Noto Sans SC"/>
                <a:sym typeface="Noto Sans SC"/>
              </a:rPr>
              <a:t>RVM 分割、Depth Anything 渐进虚化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1905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188200" y="1905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低光增强与自动 HDR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188200" y="23368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C9094"/>
                </a:solidFill>
                <a:latin typeface="Noto Sans SC"/>
                <a:ea typeface="Noto Sans SC"/>
                <a:cs typeface="Noto Sans SC"/>
                <a:sym typeface="Noto Sans SC"/>
              </a:rPr>
              <a:t>Retinex 理论、Mertens 多尺度融合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9046" flipH="false" flipV="false">
            <a:off x="6350008" y="28130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AD5C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6350000" y="31496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188200" y="3149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换脸经典流水线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188200" y="35814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C9094"/>
                </a:solidFill>
                <a:latin typeface="Noto Sans SC"/>
                <a:ea typeface="Noto Sans SC"/>
                <a:cs typeface="Noto Sans SC"/>
                <a:sym typeface="Noto Sans SC"/>
              </a:rPr>
              <a:t>Delaunay 三角剖分、分块仿射、泊松融合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9046" flipH="false" flipV="false">
            <a:off x="6350008" y="4057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AD5C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6350000" y="43942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188200" y="43942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实验评测与总结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188200" y="48260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C9094"/>
                </a:solidFill>
                <a:latin typeface="Noto Sans SC"/>
                <a:ea typeface="Noto Sans SC"/>
                <a:cs typeface="Noto Sans SC"/>
                <a:sym typeface="Noto Sans SC"/>
              </a:rPr>
              <a:t>定量指标、性能数据与未来展望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381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BeautyCam 智能美颜相机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112000" y="3810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01 · 项目背景与系统总览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654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3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838200"/>
            <a:ext cx="1016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计算摄影时代：从单点算法到完整相机系统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625600"/>
            <a:ext cx="101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背景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1981200"/>
            <a:ext cx="5969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33333"/>
              </a:lnSpc>
              <a:buClr>
                <a:srgbClr val="454A4F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手机相机已进入“计算摄影”阶段，美颜、人像虚化、夜景、HDR 成为旗舰机标配</a:t>
            </a:r>
            <a:endParaRPr lang="en-US" sz="1100"/>
          </a:p>
          <a:p>
            <a:pPr algn="l" indent="-177800" marL="177800">
              <a:lnSpc>
                <a:spcPct val="133333"/>
              </a:lnSpc>
              <a:buClr>
                <a:srgbClr val="454A4F"/>
              </a:buClr>
              <a:buChar char="•"/>
            </a:pPr>
            <a:r>
              <a:rPr lang="en-US" b="false" i="false" strike="noStrike" u="none" sz="14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这些功能本质是多种图像处理算法的有机组合，而课程实验多为孤立的单点算法，缺少系统级实践</a:t>
            </a:r>
          </a:p>
          <a:p>
            <a:pPr algn="l" indent="-177800" marL="177800">
              <a:lnSpc>
                <a:spcPct val="133333"/>
              </a:lnSpc>
              <a:buClr>
                <a:srgbClr val="454A4F"/>
              </a:buClr>
              <a:buChar char="•"/>
            </a:pPr>
            <a:r>
              <a:rPr lang="en-US" b="false" i="false" strike="noStrike" u="none" sz="14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如何在有限算力下兼顾效果与实时性，是工程落地的核心难点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4064000"/>
            <a:ext cx="101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目标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4419600"/>
            <a:ext cx="5969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33333"/>
              </a:lnSpc>
              <a:buClr>
                <a:srgbClr val="454A4F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以经典图像处理为主、轻量深度学习为辅，构建可实时运行的美颜相机</a:t>
            </a:r>
            <a:endParaRPr lang="en-US" sz="1100"/>
          </a:p>
          <a:p>
            <a:pPr algn="l" indent="-177800" marL="177800">
              <a:lnSpc>
                <a:spcPct val="133333"/>
              </a:lnSpc>
              <a:buClr>
                <a:srgbClr val="454A4F"/>
              </a:buClr>
              <a:buChar char="•"/>
            </a:pPr>
            <a:r>
              <a:rPr lang="en-US" b="false" i="false" strike="noStrike" u="none" sz="14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打通“采集 → AI 感知 → 效果处理 → 交互显示”的完整链路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0" r="0" t="19" b="19"/>
          <a:stretch>
            <a:fillRect/>
          </a:stretch>
        </p:blipFill>
        <p:spPr>
          <a:xfrm rot="0" flipH="false" flipV="false">
            <a:off x="7874000" y="1498600"/>
            <a:ext cx="3048000" cy="457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7620000" y="6172200"/>
            <a:ext cx="355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094"/>
                </a:solidFill>
                <a:latin typeface="Noto Sans SC"/>
                <a:ea typeface="Noto Sans SC"/>
                <a:cs typeface="Noto Sans SC"/>
                <a:sym typeface="Noto Sans SC"/>
              </a:rPr>
              <a:t>图1　摄像头采集的原始人像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6F4E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381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BeautyCam 智能美颜相机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112000" y="3810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01 · 项目背景与系统总览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654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3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812800"/>
            <a:ext cx="1016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系统总览：一条可配置的实时处理流水线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572000" y="1422400"/>
            <a:ext cx="3048000" cy="406400"/>
          </a:xfrm>
          <a:prstGeom prst="roundRect">
            <a:avLst>
              <a:gd name="adj" fmla="val 0"/>
            </a:avLst>
          </a:prstGeom>
          <a:solidFill>
            <a:srgbClr val="222A3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572000" y="1422400"/>
            <a:ext cx="304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摄像头采集视频帧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5185419" flipH="false" flipV="false">
            <a:off x="5994400" y="1949648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5A5F64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889000" y="2082800"/>
            <a:ext cx="10414000" cy="1143000"/>
          </a:xfrm>
          <a:prstGeom prst="roundRect">
            <a:avLst>
              <a:gd name="adj" fmla="val 0"/>
            </a:avLst>
          </a:prstGeom>
          <a:solidFill>
            <a:srgbClr val="B06A3D">
              <a:alpha val="7000"/>
            </a:srgbClr>
          </a:solidFill>
          <a:ln w="12700" cmpd="sng" cap="flat">
            <a:solidFill>
              <a:srgbClr val="B06A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41400" y="21590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AI 推理引擎 · TorchInferenceEngine（PyTorch / CUDA）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41400" y="2463800"/>
            <a:ext cx="2387600" cy="660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BEB8A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41400" y="2463800"/>
            <a:ext cx="23876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人脸检测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478 关键点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606800" y="2463800"/>
            <a:ext cx="2387600" cy="660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BEB8A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606800" y="2463800"/>
            <a:ext cx="23876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手势识别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21 关键点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172200" y="2463800"/>
            <a:ext cx="2387600" cy="660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BEB8A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172200" y="2463800"/>
            <a:ext cx="23876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RVM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人像分割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737600" y="2463800"/>
            <a:ext cx="2387600" cy="660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BEB8A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737600" y="2463800"/>
            <a:ext cx="23876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Depth Anything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单目深度</a:t>
            </a:r>
          </a:p>
        </p:txBody>
      </p:sp>
      <p:cxnSp>
        <p:nvCxnSpPr>
          <p:cNvPr name="Connector 19" id="19"/>
          <p:cNvCxnSpPr/>
          <p:nvPr/>
        </p:nvCxnSpPr>
        <p:spPr>
          <a:xfrm rot="5185419" flipH="false" flipV="false">
            <a:off x="5994400" y="3346648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5A5F64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889000" y="3479800"/>
            <a:ext cx="10414000" cy="1143000"/>
          </a:xfrm>
          <a:prstGeom prst="roundRect">
            <a:avLst>
              <a:gd name="adj" fmla="val 0"/>
            </a:avLst>
          </a:prstGeom>
          <a:solidFill>
            <a:srgbClr val="222A30">
              <a:alpha val="5000"/>
            </a:srgbClr>
          </a:solidFill>
          <a:ln w="12700" cmpd="sng" cap="flat">
            <a:solidFill>
              <a:srgbClr val="222A3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41400" y="35560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效果处理链 · Pipeline（各效果可独立开关）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41400" y="3860800"/>
            <a:ext cx="2387600" cy="660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BEB8A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41400" y="3860800"/>
            <a:ext cx="23876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磨皮美白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瘦脸大眼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3606800" y="3860800"/>
            <a:ext cx="2387600" cy="660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BEB8A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606800" y="3860800"/>
            <a:ext cx="23876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背景虚化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背景替换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172200" y="3860800"/>
            <a:ext cx="2387600" cy="660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BEB8A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172200" y="3860800"/>
            <a:ext cx="23876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低光增强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737600" y="3860800"/>
            <a:ext cx="2387600" cy="660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BEB8A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737600" y="3860800"/>
            <a:ext cx="23876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 HDR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画质增强</a:t>
            </a:r>
          </a:p>
        </p:txBody>
      </p:sp>
      <p:cxnSp>
        <p:nvCxnSpPr>
          <p:cNvPr name="Connector 30" id="30"/>
          <p:cNvCxnSpPr/>
          <p:nvPr/>
        </p:nvCxnSpPr>
        <p:spPr>
          <a:xfrm rot="5185419" flipH="false" flipV="false">
            <a:off x="5994400" y="4743648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5A5F64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31" id="31"/>
          <p:cNvSpPr/>
          <p:nvPr/>
        </p:nvSpPr>
        <p:spPr>
          <a:xfrm rot="0" flipH="false" flipV="false">
            <a:off x="889000" y="4876800"/>
            <a:ext cx="10414000" cy="533400"/>
          </a:xfrm>
          <a:prstGeom prst="roundRect">
            <a:avLst>
              <a:gd name="adj" fmla="val 0"/>
            </a:avLst>
          </a:prstGeom>
          <a:solidFill>
            <a:srgbClr val="222A3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89000" y="4876800"/>
            <a:ext cx="10414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实时预览显示　｜　手势 / 笑脸触发快门　｜　拍照保存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381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BeautyCam 智能美颜相机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112000" y="3810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02 · 实时美颜算法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654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3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812800"/>
            <a:ext cx="1016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磨皮：双边滤波，保边去噪的非线性平滑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473200"/>
            <a:ext cx="622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高斯滤波只按空间距离加权，磨平瑕疵的同时也会模糊五官。双边滤波在此基础上再乘一个“灰度相似度”核，实现“平滑同质区、保护强边缘”。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311400"/>
            <a:ext cx="62230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a:rPr sz="15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BF</m:t>
                  </m:r>
                  <m:sSub>
                    <m:e>
                      <m:d>
                        <m:dPr>
                          <m:begChr m:val="["/>
                          <m:sepChr m:val=","/>
                          <m:endChr m:val="]"/>
                        </m:dPr>
                        <m:e>
                          <m:r>
                            <a:rPr sz="1500">
                              <a:solidFill>
                                <a:srgbClr val="222A30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I</m:t>
                          </m:r>
                        </m:e>
                      </m:d>
                    </m:e>
                    <m:sub>
                      <m:r>
                        <a:rPr sz="15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p</m:t>
                      </m:r>
                    </m:sub>
                  </m:sSub>
                  <m:r>
                    <a:rPr sz="15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=</m:t>
                  </m:r>
                  <m:f>
                    <m:fPr>
                      <m:type m:val="bar"/>
                    </m:fPr>
                    <m:num>
                      <m:r>
                        <a:rPr sz="15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1</m:t>
                      </m:r>
                    </m:num>
                    <m:den>
                      <m:sSub>
                        <m:e>
                          <m:r>
                            <a:rPr sz="1500">
                              <a:solidFill>
                                <a:srgbClr val="222A30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W</m:t>
                          </m:r>
                        </m:e>
                        <m:sub>
                          <m:r>
                            <a:rPr sz="1500">
                              <a:solidFill>
                                <a:srgbClr val="222A30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p</m:t>
                          </m:r>
                        </m:sub>
                      </m:sSub>
                    </m:den>
                  </m:f>
                  <m:nary>
                    <m:naryPr>
                      <m:chr m:val="∑"/>
                      <m:limLoc m:val="undOvr"/>
                      <m:grow m:val="1"/>
                      <m:subHide m:val="off"/>
                      <m:supHide m:val="on"/>
                    </m:naryPr>
                    <m:sub>
                      <m:r>
                        <a:rPr sz="15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q</m:t>
                      </m:r>
                    </m:sub>
                    <m:sup>
                      <m:r>
                        <a:rPr sz="15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⁣</m:t>
                      </m:r>
                    </m:sup>
                    <m:e>
                      <m:r>
                        <a:rPr sz="15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 </m:t>
                      </m:r>
                    </m:e>
                  </m:nary>
                  <m:sSub>
                    <m:e>
                      <m:r>
                        <a:rPr sz="15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G</m:t>
                      </m:r>
                    </m:e>
                    <m:sub>
                      <m:sSub>
                        <m:e>
                          <m:r>
                            <a:rPr sz="1500">
                              <a:solidFill>
                                <a:srgbClr val="222A30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σ</m:t>
                          </m:r>
                        </m:e>
                        <m:sub>
                          <m:r>
                            <a:rPr sz="1500">
                              <a:solidFill>
                                <a:srgbClr val="222A30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s</m:t>
                          </m:r>
                        </m:sub>
                      </m:sSub>
                    </m:sub>
                  </m:sSub>
                  <m:d>
                    <m:dPr>
                      <m:sepChr m:val=","/>
                    </m:dPr>
                    <m:e>
                      <m:r>
                        <a:rPr sz="15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∥p-q∥</m:t>
                      </m:r>
                    </m:e>
                  </m:d>
                  <m:r>
                    <a:rPr sz="15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 </m:t>
                  </m:r>
                  <m:sSub>
                    <m:e>
                      <m:r>
                        <a:rPr sz="15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G</m:t>
                      </m:r>
                    </m:e>
                    <m:sub>
                      <m:sSub>
                        <m:e>
                          <m:r>
                            <a:rPr sz="1500">
                              <a:solidFill>
                                <a:srgbClr val="222A30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σ</m:t>
                          </m:r>
                        </m:e>
                        <m:sub>
                          <m:r>
                            <a:rPr sz="1500">
                              <a:solidFill>
                                <a:srgbClr val="222A30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r</m:t>
                          </m:r>
                        </m:sub>
                      </m:sSub>
                    </m:sub>
                  </m:sSub>
                  <m:d>
                    <m:dPr>
                      <m:sepChr m:val=","/>
                    </m:dPr>
                    <m:e>
                      <m:r>
                        <a:rPr sz="15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|</m:t>
                      </m:r>
                      <m:sSub>
                        <m:e>
                          <m:r>
                            <a:rPr sz="1500">
                              <a:solidFill>
                                <a:srgbClr val="222A30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I</m:t>
                          </m:r>
                        </m:e>
                        <m:sub>
                          <m:r>
                            <a:rPr sz="1500">
                              <a:solidFill>
                                <a:srgbClr val="222A30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p</m:t>
                          </m:r>
                        </m:sub>
                      </m:sSub>
                      <m:r>
                        <a:rPr sz="15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-</m:t>
                      </m:r>
                      <m:sSub>
                        <m:e>
                          <m:r>
                            <a:rPr sz="1500">
                              <a:solidFill>
                                <a:srgbClr val="222A30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I</m:t>
                          </m:r>
                        </m:e>
                        <m:sub>
                          <m:r>
                            <a:rPr sz="1500">
                              <a:solidFill>
                                <a:srgbClr val="222A30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q</m:t>
                          </m:r>
                        </m:sub>
                      </m:sSub>
                      <m:r>
                        <a:rPr sz="15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|</m:t>
                      </m:r>
                    </m:e>
                  </m:d>
                  <m:r>
                    <a:rPr sz="15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 </m:t>
                  </m:r>
                  <m:sSub>
                    <m:e>
                      <m:r>
                        <a:rPr sz="15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I</m:t>
                      </m:r>
                    </m:e>
                    <m:sub>
                      <m:r>
                        <a:rPr sz="15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q</m:t>
                      </m:r>
                    </m:sub>
                  </m:sSub>
                </m:oMath>
              </m:oMathPara>
            </a14:m>
            <a:r>
              <a:rPr lang="en-US" b="false" i="false" strike="noStrike" u="none" sz="15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b>
                    <m:e>
                      <m:r>
                        <a:rPr sz="15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W</m:t>
                      </m:r>
                    </m:e>
                    <m:sub>
                      <m:r>
                        <a:rPr sz="15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p</m:t>
                      </m:r>
                    </m:sub>
                  </m:sSub>
                  <m:r>
                    <a:rPr sz="15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=</m:t>
                  </m:r>
                  <m:nary>
                    <m:naryPr>
                      <m:chr m:val="∑"/>
                      <m:limLoc m:val="undOvr"/>
                      <m:grow m:val="1"/>
                      <m:subHide m:val="off"/>
                      <m:supHide m:val="on"/>
                    </m:naryPr>
                    <m:sub>
                      <m:r>
                        <a:rPr sz="15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q</m:t>
                      </m:r>
                    </m:sub>
                    <m:sup>
                      <m:r>
                        <a:rPr sz="15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⁣</m:t>
                      </m:r>
                    </m:sup>
                    <m:e>
                      <m:sSub>
                        <m:e>
                          <m:r>
                            <a:rPr sz="1500">
                              <a:solidFill>
                                <a:srgbClr val="222A30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G</m:t>
                          </m:r>
                        </m:e>
                        <m:sub>
                          <m:sSub>
                            <m:e>
                              <m:r>
                                <a:rPr sz="1500">
                                  <a:solidFill>
                                    <a:srgbClr val="222A30"/>
                                  </a:solidFill>
                                  <a:latin typeface="Noto Sans SC"/>
                                  <a:ea typeface="Noto Sans SC"/>
                                  <a:cs typeface="Noto Sans SC"/>
                                  <a:sym typeface="Noto Sans SC"/>
                                </a:rPr>
                                <m:t>σ</m:t>
                              </m:r>
                            </m:e>
                            <m:sub>
                              <m:r>
                                <a:rPr sz="1500">
                                  <a:solidFill>
                                    <a:srgbClr val="222A30"/>
                                  </a:solidFill>
                                  <a:latin typeface="Noto Sans SC"/>
                                  <a:ea typeface="Noto Sans SC"/>
                                  <a:cs typeface="Noto Sans SC"/>
                                  <a:sym typeface="Noto Sans SC"/>
                                </a:rPr>
                                <m:t>s</m:t>
                              </m:r>
                            </m:sub>
                          </m:sSub>
                        </m:sub>
                      </m:sSub>
                    </m:e>
                  </m:nary>
                  <m:d>
                    <m:dPr>
                      <m:sepChr m:val=","/>
                    </m:dPr>
                    <m:e>
                      <m:r>
                        <a:rPr sz="15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∥p-q∥</m:t>
                      </m:r>
                    </m:e>
                  </m:d>
                  <m:r>
                    <a:rPr sz="15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 </m:t>
                  </m:r>
                  <m:sSub>
                    <m:e>
                      <m:r>
                        <a:rPr sz="15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G</m:t>
                      </m:r>
                    </m:e>
                    <m:sub>
                      <m:sSub>
                        <m:e>
                          <m:r>
                            <a:rPr sz="1500">
                              <a:solidFill>
                                <a:srgbClr val="222A30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σ</m:t>
                          </m:r>
                        </m:e>
                        <m:sub>
                          <m:r>
                            <a:rPr sz="1500">
                              <a:solidFill>
                                <a:srgbClr val="222A30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r</m:t>
                          </m:r>
                        </m:sub>
                      </m:sSub>
                    </m:sub>
                  </m:sSub>
                  <m:d>
                    <m:dPr>
                      <m:sepChr m:val=","/>
                    </m:dPr>
                    <m:e>
                      <m:r>
                        <a:rPr sz="15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|</m:t>
                      </m:r>
                      <m:sSub>
                        <m:e>
                          <m:r>
                            <a:rPr sz="1500">
                              <a:solidFill>
                                <a:srgbClr val="222A30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I</m:t>
                          </m:r>
                        </m:e>
                        <m:sub>
                          <m:r>
                            <a:rPr sz="1500">
                              <a:solidFill>
                                <a:srgbClr val="222A30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p</m:t>
                          </m:r>
                        </m:sub>
                      </m:sSub>
                      <m:r>
                        <a:rPr sz="15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-</m:t>
                      </m:r>
                      <m:sSub>
                        <m:e>
                          <m:r>
                            <a:rPr sz="1500">
                              <a:solidFill>
                                <a:srgbClr val="222A30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I</m:t>
                          </m:r>
                        </m:e>
                        <m:sub>
                          <m:r>
                            <a:rPr sz="1500">
                              <a:solidFill>
                                <a:srgbClr val="222A30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q</m:t>
                          </m:r>
                        </m:sub>
                      </m:sSub>
                      <m:r>
                        <a:rPr sz="15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|</m:t>
                      </m:r>
                    </m:e>
                  </m:d>
                </m:oMath>
              </m:oMathPara>
            </a14:m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454400"/>
            <a:ext cx="622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两个核如何协同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784600"/>
            <a:ext cx="6223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33333"/>
              </a:lnSpc>
              <a:buClr>
                <a:srgbClr val="454A4F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平坦区：邻域灰度接近，值域核 </a:t>
            </a:r>
            <a14:m xmlns:a14="http://schemas.microsoft.com/office/drawing/2010/main">
              <m:oMath xmlns:m="http://schemas.openxmlformats.org/officeDocument/2006/math" xmlns:mml="http://www.w3.org/1998/Math/MathML">
                <m:sSub>
                  <m:e>
                    <m:r>
                      <a:rPr sz="1300">
                        <a:solidFill>
                          <a:srgbClr val="454A4F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G</m:t>
                    </m:r>
                  </m:e>
                  <m:sub>
                    <m:sSub>
                      <m:e>
                        <m:r>
                          <a:rPr sz="1300">
                            <a:solidFill>
                              <a:srgbClr val="454A4F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σ</m:t>
                        </m:r>
                      </m:e>
                      <m:sub>
                        <m:r>
                          <a:rPr sz="1300">
                            <a:solidFill>
                              <a:srgbClr val="454A4F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r</m:t>
                        </m:r>
                      </m:sub>
                    </m:sSub>
                  </m:sub>
                </m:sSub>
                <m:r>
                  <a:rPr sz="1300">
                    <a:solidFill>
                      <a:srgbClr val="454A4F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≈1</m:t>
                </m:r>
              </m:oMath>
            </a14:m>
            <a:r>
              <a:rPr lang="en-US" b="false" i="false" strike="noStrike" u="none" sz="13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，退化为高斯平滑，磨除痘痘与噪点</a:t>
            </a:r>
            <a:endParaRPr lang="en-US" sz="1100"/>
          </a:p>
          <a:p>
            <a:pPr algn="l" indent="-165100" marL="165100">
              <a:lnSpc>
                <a:spcPct val="133333"/>
              </a:lnSpc>
              <a:buClr>
                <a:srgbClr val="454A4F"/>
              </a:buClr>
              <a:buChar char="•"/>
            </a:pPr>
            <a:r>
              <a:rPr lang="en-US" b="false" i="false" strike="noStrike" u="none" sz="13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边缘处：跨边缘灰度差大，值域核 </a:t>
            </a:r>
            <a14:m xmlns:a14="http://schemas.microsoft.com/office/drawing/2010/main">
              <m:oMath xmlns:m="http://schemas.openxmlformats.org/officeDocument/2006/math" xmlns:mml="http://www.w3.org/1998/Math/MathML">
                <m:sSub>
                  <m:e>
                    <m:r>
                      <a:rPr sz="1300">
                        <a:solidFill>
                          <a:srgbClr val="454A4F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G</m:t>
                    </m:r>
                  </m:e>
                  <m:sub>
                    <m:r>
                      <a:rPr sz="1300">
                        <a:solidFill>
                          <a:srgbClr val="454A4F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σr</m:t>
                    </m:r>
                  </m:sub>
                </m:sSub>
                <m:r>
                  <a:rPr sz="1300">
                    <a:solidFill>
                      <a:srgbClr val="454A4F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≈0</m:t>
                </m:r>
              </m:oMath>
            </a14:m>
            <a:r>
              <a:rPr lang="en-US" b="false" i="false" strike="noStrike" u="none" sz="13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，平滑被抑制，眉眼唇轮廓得以保留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5308600"/>
            <a:ext cx="6223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87C80"/>
                </a:solidFill>
                <a:latin typeface="Noto Sans SC"/>
                <a:ea typeface="Noto Sans SC"/>
                <a:cs typeface="Noto Sans SC"/>
                <a:sym typeface="Noto Sans SC"/>
              </a:rPr>
              <a:t>参数 d=9，σcolor=σspace=60；先在半分辨率滤波再上采样并与原图按比例混合，兼顾质感与速度。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rcRect l="0" r="0" t="19" b="19"/>
          <a:stretch>
            <a:fillRect/>
          </a:stretch>
        </p:blipFill>
        <p:spPr>
          <a:xfrm rot="0" flipH="false" flipV="false">
            <a:off x="7772400" y="1524000"/>
            <a:ext cx="2997200" cy="4495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7569200" y="6096000"/>
            <a:ext cx="3403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094"/>
                </a:solidFill>
                <a:latin typeface="Noto Sans SC"/>
                <a:ea typeface="Noto Sans SC"/>
                <a:cs typeface="Noto Sans SC"/>
                <a:sym typeface="Noto Sans SC"/>
              </a:rPr>
              <a:t>图2　双边磨皮：瑕疵平滑、边缘保留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381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BeautyCam 智能美颜相机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112000" y="3810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02 · 实时美颜算法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654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3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812800"/>
            <a:ext cx="1016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美白：皮肤掩膜定位 + LAB 亮度通道提亮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498600"/>
            <a:ext cx="622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第一步 · 构造皮肤掩膜（只在皮肤上操作）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1828800"/>
            <a:ext cx="6223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29166"/>
              </a:lnSpc>
              <a:buClr>
                <a:srgbClr val="454A4F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色彩检测：YCrCb 空间中肤色的 Cr / Cb 聚集在特定椭圆范围，先做粗分割</a:t>
            </a:r>
            <a:endParaRPr lang="en-US" sz="1100"/>
          </a:p>
          <a:p>
            <a:pPr algn="l" indent="-165100" marL="165100">
              <a:lnSpc>
                <a:spcPct val="129166"/>
              </a:lnSpc>
              <a:buClr>
                <a:srgbClr val="454A4F"/>
              </a:buClr>
              <a:buChar char="•"/>
            </a:pPr>
            <a:r>
              <a:rPr lang="en-US" b="false" i="false" strike="noStrike" u="none" sz="13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几何约束：与 478 关键点生成的人脸椭圆取交集，排除手臂、背景等其他暖色物体</a:t>
            </a:r>
          </a:p>
          <a:p>
            <a:pPr algn="l" indent="-165100" marL="165100">
              <a:lnSpc>
                <a:spcPct val="129166"/>
              </a:lnSpc>
              <a:buClr>
                <a:srgbClr val="454A4F"/>
              </a:buClr>
              <a:buChar char="•"/>
            </a:pPr>
            <a:r>
              <a:rPr lang="en-US" b="false" i="false" strike="noStrike" u="none" sz="13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掩膜边缘高斯羽化，使提亮区域与周围自然过渡、无明显边界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632200"/>
            <a:ext cx="622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第二步 · 在 LAB 空间只提亮度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962400"/>
            <a:ext cx="6223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29166"/>
              </a:lnSpc>
              <a:buClr>
                <a:srgbClr val="454A4F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LAB 中 L（亮度）与 a / b（色度）相互解耦，仅提升 L 即可提亮而不改色相</a:t>
            </a:r>
            <a:endParaRPr lang="en-US" sz="1100"/>
          </a:p>
          <a:p>
            <a:pPr algn="l" indent="-165100" marL="165100">
              <a:lnSpc>
                <a:spcPct val="129166"/>
              </a:lnSpc>
              <a:buClr>
                <a:srgbClr val="454A4F"/>
              </a:buClr>
              <a:buChar char="•"/>
            </a:pPr>
            <a:r>
              <a:rPr lang="en-US" b="false" i="false" strike="noStrike" u="none" sz="13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避免在 RGB 上整体加白造成的发灰、饱和度下降与偏色</a:t>
            </a:r>
          </a:p>
          <a:p>
            <a:pPr algn="l" indent="-165100" marL="165100">
              <a:lnSpc>
                <a:spcPct val="129166"/>
              </a:lnSpc>
              <a:buClr>
                <a:srgbClr val="454A4F"/>
              </a:buClr>
              <a:buChar char="•"/>
            </a:pPr>
            <a:r>
              <a:rPr lang="en-US" b="false" i="false" strike="noStrike" u="none" sz="13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按掩膜逐像素提亮：</a:t>
            </a:r>
            <a14:m xmlns:a14="http://schemas.microsoft.com/office/drawing/2010/main">
              <m:oMath xmlns:m="http://schemas.openxmlformats.org/officeDocument/2006/math" xmlns:mml="http://www.w3.org/1998/Math/MathML">
                <m:sSup>
                  <m:e>
                    <m:r>
                      <a:rPr sz="1300">
                        <a:solidFill>
                          <a:srgbClr val="454A4F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L</m:t>
                    </m:r>
                  </m:e>
                  <m:sup>
                    <m:r>
                      <a:rPr sz="1300">
                        <a:solidFill>
                          <a:srgbClr val="454A4F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'</m:t>
                    </m:r>
                  </m:sup>
                </m:sSup>
                <m:r>
                  <a:rPr sz="1300">
                    <a:solidFill>
                      <a:srgbClr val="454A4F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=L+α⋅mask</m:t>
                </m:r>
              </m:oMath>
            </a14:m>
            <a:r>
              <a:rPr lang="en-US" b="false" i="false" strike="noStrike" u="none" sz="13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，五官与背景保持不变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0" r="0" t="19" b="19"/>
          <a:stretch>
            <a:fillRect/>
          </a:stretch>
        </p:blipFill>
        <p:spPr>
          <a:xfrm rot="0" flipH="false" flipV="false">
            <a:off x="7569200" y="1752600"/>
            <a:ext cx="1727200" cy="2590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rcRect l="0" r="0" t="19" b="19"/>
          <a:stretch>
            <a:fillRect/>
          </a:stretch>
        </p:blipFill>
        <p:spPr>
          <a:xfrm rot="0" flipH="false" flipV="false">
            <a:off x="9448800" y="1752600"/>
            <a:ext cx="1727200" cy="2590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7569200" y="4394200"/>
            <a:ext cx="1727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C9094"/>
                </a:solidFill>
                <a:latin typeface="Noto Sans SC"/>
                <a:ea typeface="Noto Sans SC"/>
                <a:cs typeface="Noto Sans SC"/>
                <a:sym typeface="Noto Sans SC"/>
              </a:rPr>
              <a:t>皮肤掩膜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448800" y="4394200"/>
            <a:ext cx="1727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C9094"/>
                </a:solidFill>
                <a:latin typeface="Noto Sans SC"/>
                <a:ea typeface="Noto Sans SC"/>
                <a:cs typeface="Noto Sans SC"/>
                <a:sym typeface="Noto Sans SC"/>
              </a:rPr>
              <a:t>LAB 提亮结果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569200" y="4902200"/>
            <a:ext cx="36068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87C80"/>
                </a:solidFill>
                <a:latin typeface="Noto Sans SC"/>
                <a:ea typeface="Noto Sans SC"/>
                <a:cs typeface="Noto Sans SC"/>
                <a:sym typeface="Noto Sans SC"/>
              </a:rPr>
              <a:t>掩膜把“哪里是皮肤”与“如何提亮”解耦：色彩模型负责找皮肤，感知均匀的 LAB 负责调亮度，二者结合既自然又不会误伤五官与背景。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381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BeautyCam 智能美颜相机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112000" y="3810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02 · 实时美颜算法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654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3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812800"/>
            <a:ext cx="1016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瘦脸与大眼：基于关键点的局部几何变形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5390808" flipH="false" flipV="false">
            <a:off x="3695700" y="3790958"/>
            <a:ext cx="4749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AD5C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889000" y="1397000"/>
            <a:ext cx="482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瘦脸 · MLS 移动最小二乘变形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1778000"/>
            <a:ext cx="495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在两侧下颌设控制点并向内推移，对每个像素 x 求加权拟合最优的局部仿射 l(x)：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2260600"/>
            <a:ext cx="50165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b>
                    <m:e>
                      <m:r>
                        <m:rPr>
                          <m:sty m:val="p"/>
                        </m:rPr>
                        <a:rPr sz="12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min</m:t>
                      </m:r>
                    </m:e>
                    <m:sub>
                      <m:sSub>
                        <m:e>
                          <m:r>
                            <a:rPr sz="1200">
                              <a:solidFill>
                                <a:srgbClr val="222A30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l</m:t>
                          </m:r>
                        </m:e>
                        <m:sub>
                          <m:r>
                            <a:rPr sz="1200">
                              <a:solidFill>
                                <a:srgbClr val="222A30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x</m:t>
                          </m:r>
                        </m:sub>
                      </m:sSub>
                    </m:sub>
                  </m:sSub>
                  <m:nary>
                    <m:naryPr>
                      <m:chr m:val="∑"/>
                      <m:limLoc m:val="undOvr"/>
                      <m:grow m:val="1"/>
                      <m:subHide m:val="off"/>
                      <m:supHide m:val="on"/>
                    </m:naryPr>
                    <m:sub>
                      <m:r>
                        <a:rPr sz="12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i</m:t>
                      </m:r>
                    </m:sub>
                    <m:sup>
                      <m:r>
                        <a:rPr sz="12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⁣</m:t>
                      </m:r>
                    </m:sup>
                    <m:e>
                      <m:sSub>
                        <m:e>
                          <m:r>
                            <a:rPr sz="1200">
                              <a:solidFill>
                                <a:srgbClr val="222A30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w</m:t>
                          </m:r>
                        </m:e>
                        <m:sub>
                          <m:r>
                            <a:rPr sz="1200">
                              <a:solidFill>
                                <a:srgbClr val="222A30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i</m:t>
                          </m:r>
                        </m:sub>
                      </m:sSub>
                    </m:e>
                  </m:nary>
                  <m:r>
                    <a:rPr sz="12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∥</m:t>
                  </m:r>
                  <m:sSub>
                    <m:e>
                      <m:r>
                        <a:rPr sz="12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l</m:t>
                      </m:r>
                    </m:e>
                    <m:sub>
                      <m:r>
                        <a:rPr sz="12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x</m:t>
                      </m:r>
                    </m:sub>
                  </m:sSub>
                  <m:d>
                    <m:dPr>
                      <m:sepChr m:val=","/>
                    </m:dPr>
                    <m:e>
                      <m:sSub>
                        <m:e>
                          <m:r>
                            <a:rPr sz="1200">
                              <a:solidFill>
                                <a:srgbClr val="222A30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p</m:t>
                          </m:r>
                        </m:e>
                        <m:sub>
                          <m:r>
                            <a:rPr sz="1200">
                              <a:solidFill>
                                <a:srgbClr val="222A30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i</m:t>
                          </m:r>
                        </m:sub>
                      </m:sSub>
                    </m:e>
                  </m:d>
                  <m:r>
                    <a:rPr sz="12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-</m:t>
                  </m:r>
                  <m:sSub>
                    <m:e>
                      <m:r>
                        <a:rPr sz="12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q</m:t>
                      </m:r>
                    </m:e>
                    <m:sub>
                      <m:r>
                        <a:rPr sz="12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i</m:t>
                      </m:r>
                    </m:sub>
                  </m:sSub>
                  <m:sSup>
                    <m:e>
                      <m:r>
                        <a:rPr sz="12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∥</m:t>
                      </m:r>
                    </m:e>
                    <m:sup>
                      <m:r>
                        <a:rPr sz="12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2</m:t>
                      </m:r>
                    </m:sup>
                  </m:sSup>
                  <m:r>
                    <a:rPr sz="12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,</m:t>
                  </m:r>
                  <m:sSub>
                    <m:e>
                      <m:r>
                        <a:rPr sz="12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w</m:t>
                      </m:r>
                    </m:e>
                    <m:sub>
                      <m:r>
                        <a:rPr sz="12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i</m:t>
                      </m:r>
                    </m:sub>
                  </m:sSub>
                  <m:r>
                    <a:rPr sz="12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=∥x-</m:t>
                  </m:r>
                  <m:sSub>
                    <m:e>
                      <m:r>
                        <a:rPr sz="12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p</m:t>
                      </m:r>
                    </m:e>
                    <m:sub>
                      <m:r>
                        <a:rPr sz="12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i</m:t>
                      </m:r>
                    </m:sub>
                  </m:sSub>
                  <m:sSup>
                    <m:e>
                      <m:r>
                        <a:rPr sz="12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∥</m:t>
                      </m:r>
                    </m:e>
                    <m:sup>
                      <m:r>
                        <a:rPr sz="12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-2α</m:t>
                      </m:r>
                    </m:sup>
                  </m:sSup>
                </m:oMath>
              </m:oMathPara>
            </a14:m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2895600"/>
            <a:ext cx="4953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52400" marL="152400">
              <a:lnSpc>
                <a:spcPct val="125000"/>
              </a:lnSpc>
              <a:buClr>
                <a:srgbClr val="454A4F"/>
              </a:buClr>
              <a:buChar char="•"/>
              <a:defRPr/>
            </a:pPr>
            <a:r>
              <a:rPr lang="en-US" b="false" i="false" strike="noStrike" u="none" sz="12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越近控制点权重越大，位移平滑扩散，脸颊内收而纹理连续无褶皱</a:t>
            </a:r>
            <a:endParaRPr lang="en-US" sz="1100"/>
          </a:p>
          <a:p>
            <a:pPr algn="l" indent="-152400" marL="152400">
              <a:lnSpc>
                <a:spcPct val="125000"/>
              </a:lnSpc>
              <a:buClr>
                <a:srgbClr val="454A4F"/>
              </a:buClr>
              <a:buChar char="•"/>
            </a:pPr>
            <a:r>
              <a:rPr lang="en-US" b="false" i="false" strike="noStrike" u="none" sz="12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另实现 RBF 径向基液化，按径向基插值整幅位移场作为替代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rcRect l="0" r="0" t="7592" b="7592"/>
          <a:stretch>
            <a:fillRect/>
          </a:stretch>
        </p:blipFill>
        <p:spPr>
          <a:xfrm rot="0" flipH="false" flipV="false">
            <a:off x="2489200" y="3911600"/>
            <a:ext cx="1676400" cy="2133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889000" y="6121400"/>
            <a:ext cx="48895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C9094"/>
                </a:solidFill>
                <a:latin typeface="Noto Sans SC"/>
                <a:ea typeface="Noto Sans SC"/>
                <a:cs typeface="Noto Sans SC"/>
                <a:sym typeface="Noto Sans SC"/>
              </a:rPr>
              <a:t>图3　下颌控制点内收实现瘦脸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73800" y="1397000"/>
            <a:ext cx="482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大眼 · 圆形区域径向放大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73800" y="1778000"/>
            <a:ext cx="482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以瞳孔为中心、半径 r 覆盖眼裂，对圆内目标点 x 做逆映射采样：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73800" y="2260600"/>
            <a:ext cx="4889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a:rPr sz="12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src=c+g</m:t>
                  </m:r>
                  <m:d>
                    <m:dPr>
                      <m:sepChr m:val=","/>
                    </m:dPr>
                    <m:e>
                      <m:r>
                        <a:rPr sz="12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d</m:t>
                      </m:r>
                    </m:e>
                  </m:d>
                  <m:d>
                    <m:dPr>
                      <m:sepChr m:val=","/>
                    </m:dPr>
                    <m:e>
                      <m:r>
                        <a:rPr sz="12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x-c</m:t>
                      </m:r>
                    </m:e>
                  </m:d>
                  <m:r>
                    <a:rPr sz="12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, d=∥x-c∥&lt;r</m:t>
                  </m:r>
                </m:oMath>
              </m:oMathPara>
            </a14:m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73800" y="2717800"/>
            <a:ext cx="4889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52400" marL="152400">
              <a:lnSpc>
                <a:spcPct val="125000"/>
              </a:lnSpc>
              <a:buClr>
                <a:srgbClr val="454A4F"/>
              </a:buClr>
              <a:buChar char="•"/>
              <a:defRPr/>
            </a:pPr>
            <a:r>
              <a:rPr lang="en-US" b="false" i="false" strike="noStrike" u="none" sz="12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g(d)&lt;1 使采样点更靠外产生放大，沿半径平滑衰减并在边界 g(r)=1</a:t>
            </a:r>
            <a:endParaRPr lang="en-US" sz="1100"/>
          </a:p>
          <a:p>
            <a:pPr algn="l" indent="-152400" marL="152400">
              <a:lnSpc>
                <a:spcPct val="125000"/>
              </a:lnSpc>
              <a:buClr>
                <a:srgbClr val="454A4F"/>
              </a:buClr>
              <a:buChar char="•"/>
            </a:pPr>
            <a:r>
              <a:rPr lang="en-US" b="false" i="false" strike="noStrike" u="none" sz="12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圆外为恒等映射，逐像素 remap 查表，眼睛变大而脸型不受影响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3"/>
          <a:srcRect l="0" r="0" t="7592" b="7592"/>
          <a:stretch>
            <a:fillRect/>
          </a:stretch>
        </p:blipFill>
        <p:spPr>
          <a:xfrm rot="0" flipH="false" flipV="false">
            <a:off x="7886700" y="3937000"/>
            <a:ext cx="1676400" cy="2133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8" id="18"/>
          <p:cNvSpPr/>
          <p:nvPr/>
        </p:nvSpPr>
        <p:spPr>
          <a:xfrm rot="0" flipH="false" flipV="false">
            <a:off x="6273800" y="6121400"/>
            <a:ext cx="4826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C9094"/>
                </a:solidFill>
                <a:latin typeface="Noto Sans SC"/>
                <a:ea typeface="Noto Sans SC"/>
                <a:cs typeface="Noto Sans SC"/>
                <a:sym typeface="Noto Sans SC"/>
              </a:rPr>
              <a:t>图4　眼区径向 remap 实现大眼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381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BeautyCam 智能美颜相机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112000" y="3810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03 · 人像分割与深度虚化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654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3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812800"/>
            <a:ext cx="1016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人像分割：RVM 时序一致的软 alpha 抠图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473200"/>
            <a:ext cx="622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从硬分割到时序软分割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1803400"/>
            <a:ext cx="6223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二值分割在发丝等细碎边缘呈锯齿，逐帧独立预测还会闪烁；视频应用需要边缘连续、时域稳定的 alpha matte。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565400"/>
            <a:ext cx="622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RVM：循环状态跨帧传递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895600"/>
            <a:ext cx="622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52400" marL="152400">
              <a:lnSpc>
                <a:spcPct val="129166"/>
              </a:lnSpc>
              <a:buClr>
                <a:srgbClr val="454A4F"/>
              </a:buClr>
              <a:buChar char="•"/>
              <a:defRPr/>
            </a:pPr>
            <a:r>
              <a:rPr lang="en-US" b="false" i="false" strike="noStrike" u="none" sz="12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Robust Video Matting 专为视频设计，维护 4 组循环状态并在帧间传递</a:t>
            </a:r>
            <a:endParaRPr lang="en-US" sz="1100"/>
          </a:p>
          <a:p>
            <a:pPr algn="l" indent="-152400" marL="152400">
              <a:lnSpc>
                <a:spcPct val="129166"/>
              </a:lnSpc>
              <a:buClr>
                <a:srgbClr val="454A4F"/>
              </a:buClr>
              <a:buChar char="•"/>
            </a:pPr>
            <a:r>
              <a:rPr lang="en-US" b="false" i="false" strike="noStrike" u="none" sz="12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结合当前帧与历史特征，输出 0~1 软 alpha，时域连贯不闪烁、复杂背景下鲁棒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140200"/>
            <a:ext cx="6223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边缘精修：以原图为引导做引导滤波，令 alpha 边缘贴合真实图像边缘，发丝干净、无光晕。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902200"/>
            <a:ext cx="622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alpha 混合实现背景替换 / 虚化 / 纯色：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b>
                    <m:e>
                      <m:r>
                        <a:rPr sz="12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I</m:t>
                      </m:r>
                    </m:e>
                    <m:sub>
                      <m:r>
                        <a:rPr sz="12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out</m:t>
                      </m:r>
                    </m:sub>
                  </m:sSub>
                  <m:r>
                    <a:rPr sz="12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=α </m:t>
                  </m:r>
                  <m:sSub>
                    <m:e>
                      <m:r>
                        <a:rPr sz="12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I</m:t>
                      </m:r>
                    </m:e>
                    <m:sub>
                      <m:r>
                        <a:rPr sz="12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fg</m:t>
                      </m:r>
                    </m:sub>
                  </m:sSub>
                  <m:r>
                    <a:rPr sz="12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+</m:t>
                  </m:r>
                  <m:d>
                    <m:dPr>
                      <m:sepChr m:val=","/>
                    </m:dPr>
                    <m:e>
                      <m:r>
                        <a:rPr sz="12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1-α</m:t>
                      </m:r>
                    </m:e>
                  </m:d>
                  <m:r>
                    <a:rPr sz="12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 </m:t>
                  </m:r>
                  <m:sSub>
                    <m:e>
                      <m:r>
                        <a:rPr sz="12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I</m:t>
                      </m:r>
                    </m:e>
                    <m:sub>
                      <m:r>
                        <a:rPr sz="12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bg</m:t>
                      </m:r>
                    </m:sub>
                  </m:sSub>
                </m:oMath>
              </m:oMathPara>
            </a14:m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rcRect l="0" r="0" t="19" b="19"/>
          <a:stretch>
            <a:fillRect/>
          </a:stretch>
        </p:blipFill>
        <p:spPr>
          <a:xfrm rot="0" flipH="false" flipV="false">
            <a:off x="7772400" y="1524000"/>
            <a:ext cx="2997200" cy="4495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7569200" y="6096000"/>
            <a:ext cx="3403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094"/>
                </a:solidFill>
                <a:latin typeface="Noto Sans SC"/>
                <a:ea typeface="Noto Sans SC"/>
                <a:cs typeface="Noto Sans SC"/>
                <a:sym typeface="Noto Sans SC"/>
              </a:rPr>
              <a:t>图5　RVM 输出的软 alpha matte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381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BeautyCam 智能美颜相机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112000" y="3810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03 · 人像分割与深度虚化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654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3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812800"/>
            <a:ext cx="1016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分割的应用：背景虚化、纯色背景与背景替换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473200"/>
            <a:ext cx="3175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01　背景虚化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1854200"/>
            <a:ext cx="317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人物区域保持清晰，背景按 alpha 做高斯模糊，模拟大光圈镜头的浅景深效果。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508500" y="1473200"/>
            <a:ext cx="3175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02　纯色背景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08500" y="1854200"/>
            <a:ext cx="317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背景替换为指定纯色，alpha 边缘羽化无锯齿，可用于快速制作证件照。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001000" y="1473200"/>
            <a:ext cx="3175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03　背景替换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001000" y="1854200"/>
            <a:ext cx="317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替换为任意图，alpha 混合能自然处理发丝等半透明边缘，过渡真实。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4297" flipH="false" flipV="false">
            <a:off x="1016004" y="2863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AD5C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rcRect l="0" r="0" t="3826" b="3826"/>
          <a:stretch>
            <a:fillRect/>
          </a:stretch>
        </p:blipFill>
        <p:spPr>
          <a:xfrm rot="0" flipH="false" flipV="false">
            <a:off x="1905000" y="3048000"/>
            <a:ext cx="8382000" cy="304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1905000" y="6146800"/>
            <a:ext cx="838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094"/>
                </a:solidFill>
                <a:latin typeface="Noto Sans SC"/>
                <a:ea typeface="Noto Sans SC"/>
                <a:cs typeface="Noto Sans SC"/>
                <a:sym typeface="Noto Sans SC"/>
              </a:rPr>
              <a:t>图6　原图 → RVM alpha → 背景虚化 → 背景替换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381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BeautyCam 智能美颜相机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112000" y="3810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03 · 人像分割与深度虚化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654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3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812800"/>
            <a:ext cx="1016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深度虚化：Depth Anything 驱动的渐进景深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422400"/>
            <a:ext cx="622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单目深度估计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1752600"/>
            <a:ext cx="6223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Depth Anything V2 从单帧预测逐像素相对深度 d（0~1，越大越近）；经大规模无标注数据训练，泛化能力强，无需深度传感器。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514600"/>
            <a:ext cx="622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把深度映射为逐像素模糊程度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844800"/>
            <a:ext cx="6223000" cy="142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52400" marL="152400">
              <a:lnSpc>
                <a:spcPct val="129166"/>
              </a:lnSpc>
              <a:buClr>
                <a:srgbClr val="454A4F"/>
              </a:buClr>
              <a:buChar char="•"/>
              <a:defRPr/>
            </a:pPr>
            <a:r>
              <a:rPr lang="en-US" b="false" i="false" strike="noStrike" u="none" sz="12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越远模糊核越大，模糊随距离连续变化，而非“前景清晰 / 背景全糊”的二分</a:t>
            </a:r>
            <a:endParaRPr lang="en-US" sz="1100"/>
          </a:p>
          <a:p>
            <a:pPr algn="l" indent="-152400" marL="152400">
              <a:lnSpc>
                <a:spcPct val="129166"/>
              </a:lnSpc>
              <a:buClr>
                <a:srgbClr val="454A4F"/>
              </a:buClr>
              <a:buChar char="•"/>
            </a:pPr>
            <a:r>
              <a:rPr lang="en-US" b="false" i="false" strike="noStrike" u="none" sz="12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分层合成：将深度分为若干区间，各用固定 σ 高斯模糊，再按深度权重加权，等价连续变化核、避免逐像素卷积</a:t>
            </a:r>
          </a:p>
          <a:p>
            <a:pPr algn="l" indent="-152400" marL="152400">
              <a:lnSpc>
                <a:spcPct val="129166"/>
              </a:lnSpc>
              <a:buClr>
                <a:srgbClr val="454A4F"/>
              </a:buClr>
              <a:buChar char="•"/>
            </a:pPr>
            <a:r>
              <a:rPr lang="en-US" b="false" i="false" strike="noStrike" u="none" sz="12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人物 alpha 区域强制 σ=0，保证主体锐利、不被虚化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368800"/>
            <a:ext cx="622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a:rPr sz="13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σ</m:t>
                  </m:r>
                  <m:d>
                    <m:dPr>
                      <m:sepChr m:val=","/>
                    </m:dPr>
                    <m:e>
                      <m:r>
                        <a:rPr sz="13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x</m:t>
                      </m:r>
                    </m:e>
                  </m:d>
                  <m:r>
                    <a:rPr sz="13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=</m:t>
                  </m:r>
                  <m:sSub>
                    <m:e>
                      <m:r>
                        <a:rPr sz="13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σ</m:t>
                      </m:r>
                    </m:e>
                    <m:sub>
                      <m:r>
                        <a:rPr sz="13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max</m:t>
                      </m:r>
                    </m:sub>
                  </m:sSub>
                  <m:r>
                    <a:rPr sz="13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 </m:t>
                  </m:r>
                  <m:d>
                    <m:dPr>
                      <m:sepChr m:val=","/>
                    </m:dPr>
                    <m:e>
                      <m:r>
                        <a:rPr sz="13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1-d</m:t>
                      </m:r>
                      <m:d>
                        <m:dPr>
                          <m:sepChr m:val=","/>
                        </m:dPr>
                        <m:e>
                          <m:r>
                            <a:rPr sz="1300">
                              <a:solidFill>
                                <a:srgbClr val="222A30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x</m:t>
                          </m:r>
                        </m:e>
                      </m:d>
                    </m:e>
                  </m:d>
                </m:oMath>
              </m:oMathPara>
            </a14:m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876800"/>
            <a:ext cx="622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87C80"/>
                </a:solidFill>
                <a:latin typeface="Noto Sans SC"/>
                <a:ea typeface="Noto Sans SC"/>
                <a:cs typeface="Noto Sans SC"/>
                <a:sym typeface="Noto Sans SC"/>
              </a:rPr>
              <a:t>最终形成“近实远虚”的光学景深，空间纵感强，比仅靠分割对背景做统一模糊更自然、更有层次。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rcRect l="0" r="0" t="19" b="19"/>
          <a:stretch>
            <a:fillRect/>
          </a:stretch>
        </p:blipFill>
        <p:spPr>
          <a:xfrm rot="0" flipH="false" flipV="false">
            <a:off x="7569200" y="1752600"/>
            <a:ext cx="1727200" cy="2590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rcRect l="0" r="0" t="19" b="19"/>
          <a:stretch>
            <a:fillRect/>
          </a:stretch>
        </p:blipFill>
        <p:spPr>
          <a:xfrm rot="0" flipH="false" flipV="false">
            <a:off x="9448800" y="1752600"/>
            <a:ext cx="1727200" cy="2590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7569200" y="4394200"/>
            <a:ext cx="1727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C9094"/>
                </a:solidFill>
                <a:latin typeface="Noto Sans SC"/>
                <a:ea typeface="Noto Sans SC"/>
                <a:cs typeface="Noto Sans SC"/>
                <a:sym typeface="Noto Sans SC"/>
              </a:rPr>
              <a:t>相对深度（伪彩）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448800" y="4394200"/>
            <a:ext cx="1727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C9094"/>
                </a:solidFill>
                <a:latin typeface="Noto Sans SC"/>
                <a:ea typeface="Noto Sans SC"/>
                <a:cs typeface="Noto Sans SC"/>
                <a:sym typeface="Noto Sans SC"/>
              </a:rPr>
              <a:t>渐进虚化结果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569200" y="4876800"/>
            <a:ext cx="36068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87C80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深度图给出“前后关系”，分层模糊给出“离焦量”，分割掩码锁定清晰主体，三者结合还原真实镜头的景深效果。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381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BeautyCam 智能美颜相机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112000" y="3810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低光增强与自动 HDR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654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3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787400"/>
            <a:ext cx="1016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低光增强：Retinex 理论与三种实现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295400"/>
            <a:ext cx="660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a:rPr sz="14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S</m:t>
                  </m:r>
                  <m:d>
                    <m:dPr>
                      <m:sepChr m:val=","/>
                    </m:dPr>
                    <m:e>
                      <m:r>
                        <a:rPr sz="14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x</m:t>
                      </m:r>
                    </m:e>
                  </m:d>
                  <m:r>
                    <a:rPr sz="14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=R</m:t>
                  </m:r>
                  <m:d>
                    <m:dPr>
                      <m:sepChr m:val=","/>
                    </m:dPr>
                    <m:e>
                      <m:r>
                        <a:rPr sz="14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x</m:t>
                      </m:r>
                    </m:e>
                  </m:d>
                  <m:r>
                    <a:rPr sz="14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⋅L</m:t>
                  </m:r>
                  <m:d>
                    <m:dPr>
                      <m:sepChr m:val=","/>
                    </m:dPr>
                    <m:e>
                      <m:r>
                        <a:rPr sz="14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x</m:t>
                      </m:r>
                    </m:e>
                  </m:d>
                  <m:r>
                    <a:rPr sz="14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,</m:t>
                  </m:r>
                  <m:r>
                    <m:rPr>
                      <m:sty m:val="p"/>
                    </m:rPr>
                    <a:rPr sz="14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  </m:t>
                  </m:r>
                  <m:r>
                    <a:rPr sz="14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R</m:t>
                  </m:r>
                  <m:d>
                    <m:dPr>
                      <m:sepChr m:val=","/>
                    </m:dPr>
                    <m:e>
                      <m:r>
                        <a:rPr sz="14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x</m:t>
                      </m:r>
                    </m:e>
                  </m:d>
                  <m:r>
                    <a:rPr sz="14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=S</m:t>
                  </m:r>
                  <m:d>
                    <m:dPr>
                      <m:sepChr m:val=","/>
                    </m:dPr>
                    <m:e>
                      <m:r>
                        <a:rPr sz="14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x</m:t>
                      </m:r>
                    </m:e>
                  </m:d>
                  <m:r>
                    <a:rPr sz="14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/L</m:t>
                  </m:r>
                  <m:d>
                    <m:dPr>
                      <m:sepChr m:val=","/>
                    </m:dPr>
                    <m:e>
                      <m:r>
                        <a:rPr sz="14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x</m:t>
                      </m:r>
                    </m:e>
                  </m:d>
                </m:oMath>
              </m:oMathPara>
            </a14:m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1701800"/>
            <a:ext cx="1016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观测图 S = 反射 R（物体本质）× 光照 L；增强即估计并校正 L、还原 R，同时抑制暗处被放大的噪声。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184400"/>
            <a:ext cx="317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01　启发式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514600"/>
            <a:ext cx="32385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gamma 校正 + 直方图均衡，简单快速；易过曝、噪声明显，PSNR 14.4 dB。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08500" y="2184400"/>
            <a:ext cx="317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02　SCI 自校准光照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08500" y="2514600"/>
            <a:ext cx="32385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轻量网络，光照估计与校正自校准、权重共享，实时性好，PSNR 22.1 dB。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01000" y="2184400"/>
            <a:ext cx="317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03　Retinexformer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01000" y="2514600"/>
            <a:ext cx="3175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先估光照，再用 Transformer 对反射去噪增强，还原最佳，PSNR 25.16 dB。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4297" flipH="false" flipV="false">
            <a:off x="1016004" y="3321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AD5C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5" id="15"/>
          <p:cNvPicPr>
            <a:picLocks noChangeAspect="true"/>
          </p:cNvPicPr>
          <p:nvPr/>
        </p:nvPicPr>
        <p:blipFill>
          <a:blip r:embed="rId2"/>
          <a:srcRect l="0" r="0" t="14226" b="14226"/>
          <a:stretch>
            <a:fillRect/>
          </a:stretch>
        </p:blipFill>
        <p:spPr>
          <a:xfrm rot="0" flipH="false" flipV="false">
            <a:off x="1574800" y="3454400"/>
            <a:ext cx="9042400" cy="2540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1574800" y="6045200"/>
            <a:ext cx="90424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094"/>
                </a:solidFill>
                <a:latin typeface="Noto Sans SC"/>
                <a:ea typeface="Noto Sans SC"/>
                <a:cs typeface="Noto Sans SC"/>
                <a:sym typeface="Noto Sans SC"/>
              </a:rPr>
              <a:t>图7　合成暗图 → 启发式 14.4 dB → SCI 22.1 dB → Retinexformer 25.16 dB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381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BeautyCam 智能美颜相机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112000" y="3810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低光增强与自动 HDR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654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3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787400"/>
            <a:ext cx="1016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 HDR：伪包围曝光与多尺度融合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3208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01　单帧合成伪包围曝光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1651000"/>
            <a:ext cx="508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实时模式只有一帧，用 gamma 曲线对其做色调映射，合成 −1 / 0 / +1 EV 三帧，分别覆盖暗、中、亮区间。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3622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02　ECC 对齐防鬼影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692400"/>
            <a:ext cx="508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findTransformECC 估计帧间几何变换并对齐，消除手抖与物体移动造成的重影。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13208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03　Mertens 多尺度融合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1651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逐像素算对比度、饱和度、良好曝光三权重，在拉普拉斯金字塔上按归一化权重融合并重建，取各帧最佳区域。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25146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04　色调映射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28448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用 Drago / Reinhard 算子把高动态范围压缩到显示器可呈现区间，亮暗细节兼顾。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4297" flipH="false" flipV="false">
            <a:off x="1016004" y="342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AD5C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5" id="15"/>
          <p:cNvPicPr>
            <a:picLocks noChangeAspect="true"/>
          </p:cNvPicPr>
          <p:nvPr/>
        </p:nvPicPr>
        <p:blipFill>
          <a:blip r:embed="rId2"/>
          <a:srcRect l="0" r="0" t="4683" b="4683"/>
          <a:stretch>
            <a:fillRect/>
          </a:stretch>
        </p:blipFill>
        <p:spPr>
          <a:xfrm rot="0" flipH="false" flipV="false">
            <a:off x="1524000" y="3581400"/>
            <a:ext cx="9144000" cy="2489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1524000" y="6121400"/>
            <a:ext cx="914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094"/>
                </a:solidFill>
                <a:latin typeface="Noto Sans SC"/>
                <a:ea typeface="Noto Sans SC"/>
                <a:cs typeface="Noto Sans SC"/>
                <a:sym typeface="Noto Sans SC"/>
              </a:rPr>
              <a:t>图8　单帧（高光/暗部丢失）与 HDR 融合结果对比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381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BeautyCam 智能美颜相机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112000" y="3810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05 · 换脸经典流水线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654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3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787400"/>
            <a:ext cx="1016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换脸：三角剖分驱动的非刚性图像拼接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1371600"/>
            <a:ext cx="495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01　Delaunay 三角剖分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1676400"/>
            <a:ext cx="4953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对源脸 478 点 cv2.Subdiv2D 剖分得约 890 个饱满三角形，把非刚性人脸拆成大量可仿射的小平面片。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2387600"/>
            <a:ext cx="495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02　逐三角分块仿射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2692400"/>
            <a:ext cx="4953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每片由 3 对点 getAffineTransform 求矩阵、warpAffine 变形到目标，掩膜拼合对齐五官。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3378200"/>
            <a:ext cx="495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03　Reinhard 色彩迁移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" y="3683000"/>
            <a:ext cx="5016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p>
                    <m:e>
                      <m:r>
                        <a:rPr sz="11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c</m:t>
                      </m:r>
                    </m:e>
                    <m:sup>
                      <m:r>
                        <a:rPr sz="11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'</m:t>
                      </m:r>
                    </m:sup>
                  </m:sSup>
                  <m:r>
                    <a:rPr sz="11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=</m:t>
                  </m:r>
                  <m:d>
                    <m:dPr>
                      <m:sepChr m:val=","/>
                    </m:dPr>
                    <m:e>
                      <m:r>
                        <a:rPr sz="11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c-</m:t>
                      </m:r>
                      <m:sSub>
                        <m:e>
                          <m:r>
                            <a:rPr sz="1100">
                              <a:solidFill>
                                <a:srgbClr val="222A30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μ</m:t>
                          </m:r>
                        </m:e>
                        <m:sub>
                          <m:r>
                            <a:rPr sz="1100">
                              <a:solidFill>
                                <a:srgbClr val="222A30"/>
                              </a:solidFill>
                              <a:latin typeface="Noto Sans SC"/>
                              <a:ea typeface="Noto Sans SC"/>
                              <a:cs typeface="Noto Sans SC"/>
                              <a:sym typeface="Noto Sans SC"/>
                            </a:rPr>
                            <m:t>s</m:t>
                          </m:r>
                        </m:sub>
                      </m:sSub>
                    </m:e>
                  </m:d>
                  <m:d>
                    <m:dPr>
                      <m:sepChr m:val=","/>
                    </m:dPr>
                    <m:e>
                      <m:f>
                        <m:fPr>
                          <m:type m:val="lin"/>
                        </m:fPr>
                        <m:num>
                          <m:sSub>
                            <m:e>
                              <m:r>
                                <a:rPr sz="1100">
                                  <a:solidFill>
                                    <a:srgbClr val="222A30"/>
                                  </a:solidFill>
                                  <a:latin typeface="Noto Sans SC"/>
                                  <a:ea typeface="Noto Sans SC"/>
                                  <a:cs typeface="Noto Sans SC"/>
                                  <a:sym typeface="Noto Sans SC"/>
                                </a:rPr>
                                <m:t>σ</m:t>
                              </m:r>
                            </m:e>
                            <m:sub>
                              <m:r>
                                <a:rPr sz="1100">
                                  <a:solidFill>
                                    <a:srgbClr val="222A30"/>
                                  </a:solidFill>
                                  <a:latin typeface="Noto Sans SC"/>
                                  <a:ea typeface="Noto Sans SC"/>
                                  <a:cs typeface="Noto Sans SC"/>
                                  <a:sym typeface="Noto Sans SC"/>
                                </a:rPr>
                                <m:t>t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sz="1100">
                                  <a:solidFill>
                                    <a:srgbClr val="222A30"/>
                                  </a:solidFill>
                                  <a:latin typeface="Noto Sans SC"/>
                                  <a:ea typeface="Noto Sans SC"/>
                                  <a:cs typeface="Noto Sans SC"/>
                                  <a:sym typeface="Noto Sans SC"/>
                                </a:rPr>
                                <m:t>σ</m:t>
                              </m:r>
                            </m:e>
                            <m:sub>
                              <m:r>
                                <a:rPr sz="1100">
                                  <a:solidFill>
                                    <a:srgbClr val="222A30"/>
                                  </a:solidFill>
                                  <a:latin typeface="Noto Sans SC"/>
                                  <a:ea typeface="Noto Sans SC"/>
                                  <a:cs typeface="Noto Sans SC"/>
                                  <a:sym typeface="Noto Sans SC"/>
                                </a:rPr>
                                <m:t>s</m:t>
                              </m:r>
                            </m:sub>
                          </m:sSub>
                        </m:den>
                      </m:f>
                    </m:e>
                  </m:d>
                  <m:r>
                    <a:rPr sz="1100">
                      <a:solidFill>
                        <a:srgbClr val="222A3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m:t>+</m:t>
                  </m:r>
                  <m:sSub>
                    <m:e>
                      <m:r>
                        <a:rPr sz="11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μ</m:t>
                      </m:r>
                    </m:e>
                    <m:sub>
                      <m:r>
                        <a:rPr sz="11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m:t>t</m:t>
                      </m:r>
                    </m:sub>
                  </m:sSub>
                </m:oMath>
              </m:oMathPara>
            </a14:m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89000" y="4038600"/>
            <a:ext cx="495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LAB 空间逐通道对齐均值与标准差（σ 比夹 [1/3,3]），统一肤色。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89000" y="4546600"/>
            <a:ext cx="495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04　泊松融合 seamlessClone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89000" y="4851400"/>
            <a:ext cx="4953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在梯度域求解泊松方程：保留脸内五官梯度、令边界梯度与目标连续，重建后接缝消失、光照自然融入。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2"/>
          <a:srcRect l="0" r="0" t="19" b="19"/>
          <a:stretch>
            <a:fillRect/>
          </a:stretch>
        </p:blipFill>
        <p:spPr>
          <a:xfrm rot="0" flipH="false" flipV="false">
            <a:off x="5994400" y="1574800"/>
            <a:ext cx="1625600" cy="2438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3"/>
          <a:srcRect l="0" r="0" t="19" b="19"/>
          <a:stretch>
            <a:fillRect/>
          </a:stretch>
        </p:blipFill>
        <p:spPr>
          <a:xfrm rot="0" flipH="false" flipV="false">
            <a:off x="7797800" y="1574800"/>
            <a:ext cx="1625600" cy="2438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rcRect l="0" r="0" t="19" b="19"/>
          <a:stretch>
            <a:fillRect/>
          </a:stretch>
        </p:blipFill>
        <p:spPr>
          <a:xfrm rot="0" flipH="false" flipV="false">
            <a:off x="9601200" y="1574800"/>
            <a:ext cx="1625600" cy="2438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8" id="18"/>
          <p:cNvSpPr/>
          <p:nvPr/>
        </p:nvSpPr>
        <p:spPr>
          <a:xfrm rot="0" flipH="false" flipV="false">
            <a:off x="5994400" y="4064000"/>
            <a:ext cx="16256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900">
                <a:solidFill>
                  <a:srgbClr val="8C9094"/>
                </a:solidFill>
                <a:latin typeface="Noto Sans SC"/>
                <a:ea typeface="Noto Sans SC"/>
                <a:cs typeface="Noto Sans SC"/>
                <a:sym typeface="Noto Sans SC"/>
              </a:rPr>
              <a:t>Delaunay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900">
                <a:solidFill>
                  <a:srgbClr val="8C9094"/>
                </a:solidFill>
                <a:latin typeface="Noto Sans SC"/>
                <a:ea typeface="Noto Sans SC"/>
                <a:cs typeface="Noto Sans SC"/>
                <a:sym typeface="Noto Sans SC"/>
              </a:rPr>
              <a:t>三角网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797800" y="4064000"/>
            <a:ext cx="16256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900">
                <a:solidFill>
                  <a:srgbClr val="8C9094"/>
                </a:solidFill>
                <a:latin typeface="Noto Sans SC"/>
                <a:ea typeface="Noto Sans SC"/>
                <a:cs typeface="Noto Sans SC"/>
                <a:sym typeface="Noto Sans SC"/>
              </a:rPr>
              <a:t>分块仿射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900">
                <a:solidFill>
                  <a:srgbClr val="8C9094"/>
                </a:solidFill>
                <a:latin typeface="Noto Sans SC"/>
                <a:ea typeface="Noto Sans SC"/>
                <a:cs typeface="Noto Sans SC"/>
                <a:sym typeface="Noto Sans SC"/>
              </a:rPr>
              <a:t>warp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601200" y="4064000"/>
            <a:ext cx="16256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900">
                <a:solidFill>
                  <a:srgbClr val="8C9094"/>
                </a:solidFill>
                <a:latin typeface="Noto Sans SC"/>
                <a:ea typeface="Noto Sans SC"/>
                <a:cs typeface="Noto Sans SC"/>
                <a:sym typeface="Noto Sans SC"/>
              </a:rPr>
              <a:t>泊松融合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900">
                <a:solidFill>
                  <a:srgbClr val="8C9094"/>
                </a:solidFill>
                <a:latin typeface="Noto Sans SC"/>
                <a:ea typeface="Noto Sans SC"/>
                <a:cs typeface="Noto Sans SC"/>
                <a:sym typeface="Noto Sans SC"/>
              </a:rPr>
              <a:t>成片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994400" y="4648200"/>
            <a:ext cx="52324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87C80"/>
                </a:solidFill>
                <a:latin typeface="Noto Sans SC"/>
                <a:ea typeface="Noto Sans SC"/>
                <a:cs typeface="Noto Sans SC"/>
                <a:sym typeface="Noto Sans SC"/>
              </a:rPr>
              <a:t>定位为演示级、“可辨识即合格”。当源与目标都有胡须等复杂纹理时，嘴 / 下巴区域仍有特征重叠，是后续可改进点。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6F4E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381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BeautyCam 智能美颜相机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112000" y="3810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辅助功能与交互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654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3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787400"/>
            <a:ext cx="1016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自适应画质增强与手势 / 笑脸触发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5390503" flipH="false" flipV="false">
            <a:off x="3771900" y="3663959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AD5C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889000" y="1397000"/>
            <a:ext cx="495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自适应画质增强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1778000"/>
            <a:ext cx="495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01　自适应 gamma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2082800"/>
            <a:ext cx="495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按局部亮度逐区调整 gamma，暗区多提亮、亮区少提亮，避免全局顾此失彼。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2692400"/>
            <a:ext cx="495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02　CLAHE 限制对比度均衡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" y="2997200"/>
            <a:ext cx="4953000" cy="736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分 tile 做直方图均衡再拼接，clipLimit 裁剪过高 bin，抑制噪声放大；在 L 通道进行，增强局部细节不偏色。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89000" y="3835400"/>
            <a:ext cx="495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03　灰世界假设白平衡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89000" y="4140200"/>
            <a:ext cx="4953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假设场景均值应为灰色，据此算 RGB 通道增益，纠正光源造成的色偏。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73800" y="1397000"/>
            <a:ext cx="495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手势 / 笑脸触发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73800" y="1778000"/>
            <a:ext cx="495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01　BlazePalm 检测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73800" y="2082800"/>
            <a:ext cx="495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实时检测手掌并回归 21 个手部关键点，作为手势判别的几何基础。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73800" y="2692400"/>
            <a:ext cx="495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02　手势与笑脸识别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73800" y="2997200"/>
            <a:ext cx="4953000" cy="736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由关键点相对位置识别比耶 / 张掌 / 握拳，由人脸 blendshapes 的嘴角上扬分值判断笑脸。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73800" y="3835400"/>
            <a:ext cx="495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03　状态机防抖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73800" y="4140200"/>
            <a:ext cx="4953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连续 N 帧稳定识别才触发快门，触发后冷却，避免误触与连拍。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6F4E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381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BeautyCam 智能美颜相机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112000" y="3810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06 · 实验评测与总结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654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3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787400"/>
            <a:ext cx="1016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实验结果：定量评测与实时性分析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13716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低光增强定量对比（合成暗图）</a:t>
            </a:r>
            <a:endParaRPr lang="en-US" sz="1100"/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889000" y="1778000"/>
          <a:ext cx="4826000" cy="1981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175000"/>
                <a:gridCol w="1651000"/>
              </a:tblGrid>
              <a:tr h="4699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方法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3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PSNR (dB)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30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54A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启发式 gamma + 直方图均衡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54A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14.4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54A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SCI 自校准光照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54A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22.1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53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222A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Retinexformer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B06A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25.16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8" id="8"/>
          <p:cNvSpPr/>
          <p:nvPr/>
        </p:nvSpPr>
        <p:spPr>
          <a:xfrm rot="0" flipH="false" flipV="false">
            <a:off x="889000" y="38862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87C80"/>
                </a:solidFill>
                <a:latin typeface="Noto Sans SC"/>
                <a:ea typeface="Noto Sans SC"/>
                <a:cs typeface="Noto Sans SC"/>
                <a:sym typeface="Noto Sans SC"/>
              </a:rPr>
              <a:t>测试图由正常图 ×0.28 并加噪声合成，PSNR 越高表示恢复结果越接近原始清晰图。深度学习方法较启发式提升约 8~11 dB。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73800" y="13716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实时性优化策略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73800" y="1752600"/>
            <a:ext cx="4953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52400" marL="152400">
              <a:lnSpc>
                <a:spcPct val="141666"/>
              </a:lnSpc>
              <a:buClr>
                <a:srgbClr val="454A4F"/>
              </a:buClr>
              <a:buChar char="•"/>
              <a:defRPr/>
            </a:pPr>
            <a:r>
              <a:rPr lang="en-US" b="false" i="false" strike="noStrike" u="none" sz="12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重计算降分辨率 / 降帧频：磨皮在半分辨率进行，人脸检测每 10 帧刷新</a:t>
            </a:r>
            <a:endParaRPr lang="en-US" sz="1100"/>
          </a:p>
          <a:p>
            <a:pPr algn="l" indent="-152400" marL="152400">
              <a:lnSpc>
                <a:spcPct val="141666"/>
              </a:lnSpc>
              <a:buClr>
                <a:srgbClr val="454A4F"/>
              </a:buClr>
              <a:buChar char="•"/>
            </a:pPr>
            <a:r>
              <a:rPr lang="en-US" b="false" i="false" strike="noStrike" u="none" sz="12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GPU 并行 + 异步多流，使网络推理与图像处理相互重叠</a:t>
            </a:r>
          </a:p>
          <a:p>
            <a:pPr algn="l" indent="-152400" marL="152400">
              <a:lnSpc>
                <a:spcPct val="141666"/>
              </a:lnSpc>
              <a:buClr>
                <a:srgbClr val="454A4F"/>
              </a:buClr>
              <a:buChar char="•"/>
            </a:pPr>
            <a:r>
              <a:rPr lang="en-US" b="false" i="false" strike="noStrike" u="none" sz="12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跨帧状态复用：RVM 循环状态与跟踪轨迹沿用，避免重复计算</a:t>
            </a:r>
          </a:p>
          <a:p>
            <a:pPr algn="l" indent="-152400" marL="152400">
              <a:lnSpc>
                <a:spcPct val="141666"/>
              </a:lnSpc>
              <a:buClr>
                <a:srgbClr val="454A4F"/>
              </a:buClr>
              <a:buChar char="•"/>
            </a:pPr>
            <a:r>
              <a:rPr lang="en-US" b="false" i="false" strike="noStrike" u="none" sz="12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轻量模型优先（SCI），重模型按需启用，兼顾画质与帧率</a:t>
            </a:r>
          </a:p>
        </p:txBody>
      </p:sp>
      <p:cxnSp>
        <p:nvCxnSpPr>
          <p:cNvPr name="Connector 11" id="11"/>
          <p:cNvCxnSpPr/>
          <p:nvPr/>
        </p:nvCxnSpPr>
        <p:spPr>
          <a:xfrm rot="-4223" flipH="false" flipV="false">
            <a:off x="889004" y="5124450"/>
            <a:ext cx="1033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AD5C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889000" y="5283200"/>
            <a:ext cx="10337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总体看，在保证实时预览的前提下，深度学习方法在低光等任务上显著优于传统启发式；分割、渐进虚化与 HDR 的视觉效果见前述各页。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6F4E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381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BeautyCam 智能美颜相机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112000" y="3810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99C"/>
                </a:solidFill>
                <a:latin typeface="Noto Sans SC"/>
                <a:ea typeface="Noto Sans SC"/>
                <a:cs typeface="Noto Sans SC"/>
                <a:sym typeface="Noto Sans SC"/>
              </a:rPr>
              <a:t>06 · 实验评测与总结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654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3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787400"/>
            <a:ext cx="1016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5390450" flipH="false" flipV="false">
            <a:off x="3784600" y="3676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06A3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889000" y="1422400"/>
            <a:ext cx="495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已完成工作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1803400"/>
            <a:ext cx="5016500" cy="406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39700" marL="139700">
              <a:lnSpc>
                <a:spcPct val="133333"/>
              </a:lnSpc>
              <a:buClr>
                <a:srgbClr val="454A4F"/>
              </a:buClr>
              <a:buChar char="•"/>
              <a:defRPr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构建功能完整的实时美颜相机，打通“采集 → 感知 → 处理 → 交互”全链路</a:t>
            </a:r>
            <a:endParaRPr lang="en-US" sz="1100"/>
          </a:p>
          <a:p>
            <a:pPr algn="l" indent="-139700" marL="139700">
              <a:lnSpc>
                <a:spcPct val="133333"/>
              </a:lnSpc>
              <a:buClr>
                <a:srgbClr val="454A4F"/>
              </a:buClr>
              <a:buChar char="•"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实时美颜：双边滤波磨皮、LAB 美白、MLS 瘦脸、径向大眼</a:t>
            </a:r>
          </a:p>
          <a:p>
            <a:pPr algn="l" indent="-139700" marL="139700">
              <a:lnSpc>
                <a:spcPct val="133333"/>
              </a:lnSpc>
              <a:buClr>
                <a:srgbClr val="454A4F"/>
              </a:buClr>
              <a:buChar char="•"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RVM 带循环状态的时序人像分割，引导滤波精修</a:t>
            </a:r>
          </a:p>
          <a:p>
            <a:pPr algn="l" indent="-139700" marL="139700">
              <a:lnSpc>
                <a:spcPct val="133333"/>
              </a:lnSpc>
              <a:buClr>
                <a:srgbClr val="454A4F"/>
              </a:buClr>
              <a:buChar char="•"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Depth Anything 单目深度驱动的渐进景深虚化</a:t>
            </a:r>
          </a:p>
          <a:p>
            <a:pPr algn="l" indent="-139700" marL="139700">
              <a:lnSpc>
                <a:spcPct val="133333"/>
              </a:lnSpc>
              <a:buClr>
                <a:srgbClr val="454A4F"/>
              </a:buClr>
              <a:buChar char="•"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SCI / Retinexformer 低光增强，PSNR 最高 25.16 dB</a:t>
            </a:r>
          </a:p>
          <a:p>
            <a:pPr algn="l" indent="-139700" marL="139700">
              <a:lnSpc>
                <a:spcPct val="133333"/>
              </a:lnSpc>
              <a:buClr>
                <a:srgbClr val="454A4F"/>
              </a:buClr>
              <a:buChar char="•"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gamma 伪曝光 + Mertens 多尺度融合自动 HDR</a:t>
            </a:r>
          </a:p>
          <a:p>
            <a:pPr algn="l" indent="-139700" marL="139700">
              <a:lnSpc>
                <a:spcPct val="133333"/>
              </a:lnSpc>
              <a:buClr>
                <a:srgbClr val="454A4F"/>
              </a:buClr>
              <a:buChar char="•"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Delaunay 三角剖分换脸流水线，辅以画质增强与手势交互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73800" y="1422400"/>
            <a:ext cx="495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局限性与展望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73800" y="1803400"/>
            <a:ext cx="4953000" cy="406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39700" marL="139700">
              <a:lnSpc>
                <a:spcPct val="133333"/>
              </a:lnSpc>
              <a:buClr>
                <a:srgbClr val="454A4F"/>
              </a:buClr>
              <a:buChar char="•"/>
              <a:defRPr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换脸在胡须 / 遮挡 / 大侧脸时仍有瑕疵，可引入稠密对齐、3D 先验与 GAN 融合</a:t>
            </a:r>
            <a:endParaRPr lang="en-US" sz="1100"/>
          </a:p>
          <a:p>
            <a:pPr algn="l" indent="-139700" marL="139700">
              <a:lnSpc>
                <a:spcPct val="133333"/>
              </a:lnSpc>
              <a:buClr>
                <a:srgbClr val="454A4F"/>
              </a:buClr>
              <a:buChar char="•"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单目深度为相对尺度，极端场景边缘可能偏差，可加多帧几何约束</a:t>
            </a:r>
          </a:p>
          <a:p>
            <a:pPr algn="l" indent="-139700" marL="139700">
              <a:lnSpc>
                <a:spcPct val="133333"/>
              </a:lnSpc>
              <a:buClr>
                <a:srgbClr val="454A4F"/>
              </a:buClr>
              <a:buChar char="•"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重模型在低端设备压力较大，可做量化、蒸馏与端侧 NPU 部署</a:t>
            </a:r>
          </a:p>
          <a:p>
            <a:pPr algn="l" indent="-139700" marL="139700">
              <a:lnSpc>
                <a:spcPct val="133333"/>
              </a:lnSpc>
              <a:buClr>
                <a:srgbClr val="454A4F"/>
              </a:buClr>
              <a:buChar char="•"/>
            </a:pPr>
            <a:r>
              <a:rPr lang="en-US" b="false" i="false" strike="noStrike" u="none" sz="1100">
                <a:solidFill>
                  <a:srgbClr val="454A4F"/>
                </a:solidFill>
                <a:latin typeface="Noto Sans SC"/>
                <a:ea typeface="Noto Sans SC"/>
                <a:cs typeface="Noto Sans SC"/>
                <a:sym typeface="Noto Sans SC"/>
              </a:rPr>
              <a:t>拓展方向：视频级时序稳定、风格化滤镜、多人独立美化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715000" y="2362200"/>
            <a:ext cx="762000" cy="50800"/>
          </a:xfrm>
          <a:prstGeom prst="roundRect">
            <a:avLst>
              <a:gd name="adj" fmla="val 0"/>
            </a:avLst>
          </a:prstGeom>
          <a:solidFill>
            <a:srgbClr val="B06A3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641600"/>
            <a:ext cx="101600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222A30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810000"/>
            <a:ext cx="1016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06A3D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 FOR YOUR LISTENING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318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787C80"/>
                </a:solidFill>
                <a:latin typeface="Noto Sans SC"/>
                <a:ea typeface="Noto Sans SC"/>
                <a:cs typeface="Noto Sans SC"/>
                <a:sym typeface="Noto Sans SC"/>
              </a:rPr>
              <a:t>敬请各位老师批评指正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